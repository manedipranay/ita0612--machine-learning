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B2A41"/>
                </a:solidFill>
                <a:latin typeface="+mn-lt"/>
              </a:rPr>
              <a:t>Example model performance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0B6E8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</c:v>
                </c:pt>
                <c:pt idx="1">
                  <c:v>80</c:v>
                </c:pt>
                <c:pt idx="2">
                  <c:v>72.7</c:v>
                </c:pt>
                <c:pt idx="3">
                  <c:v>76.2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88-4CF8-BE4C-8D6EF9004C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5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835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improves data quality and training efficiency. Workflow: raw data, cleaning, missing value handling, normalization, clean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selection reduces complexity and overfitting. The 80/20 split is a common example, not a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Post-processing does not change the model; it improves how outputs are decided, filtered and 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numbers are illustrative, derived from the stated confusion matrix; replace them with your own model's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Cross-validation gives a more dependable estimate than a single split. The full process: preprocessing, model development, post-processing, evaluation,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Preprocessing, Post-Processing &amp; Evaluation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Preprocessing, Post-Processing &amp; Evaluation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544D-CD98-7BA0-480B-8E85EE59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46296-25C8-6AA5-13AC-91897220D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BC8A9-7F1A-581B-3101-43949982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B851-1CE3-4F50-863C-5010088D76FC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5C0C-6149-A072-4313-9D6C0294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404F9-4895-F91A-0199-EE7503A2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12A-3B45-4B40-9FC3-428064814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63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0953C-96FA-79E5-9698-7B54DDA8C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968" y="2014164"/>
            <a:ext cx="6662599" cy="913520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Preprocessing, Post-Processing,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34B92-B9BF-F7C9-A377-DB696A6A4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467" y="4656667"/>
            <a:ext cx="3903133" cy="1092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Pranay(192525382)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D9469-BBD6-D977-DE2D-57C168FD96EF}"/>
              </a:ext>
            </a:extLst>
          </p:cNvPr>
          <p:cNvSpPr txBox="1"/>
          <p:nvPr/>
        </p:nvSpPr>
        <p:spPr>
          <a:xfrm>
            <a:off x="2810934" y="3059668"/>
            <a:ext cx="5435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ITA0612- Machine Learning 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26E22-C275-9D4C-195B-161CE8C5F343}"/>
              </a:ext>
            </a:extLst>
          </p:cNvPr>
          <p:cNvSpPr txBox="1"/>
          <p:nvPr/>
        </p:nvSpPr>
        <p:spPr>
          <a:xfrm>
            <a:off x="419099" y="4944127"/>
            <a:ext cx="491066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Sivakumar 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SE-Computer Science and Engineering">
            <a:extLst>
              <a:ext uri="{FF2B5EF4-FFF2-40B4-BE49-F238E27FC236}">
                <a16:creationId xmlns:a16="http://schemas.microsoft.com/office/drawing/2014/main" id="{D065DD54-D9E2-CCAB-7499-CA9E0D122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534" y="8467"/>
            <a:ext cx="11971866" cy="12095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9263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Preprocessing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Preparing raw data before model development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Why: </a:t>
            </a:r>
            <a:r>
              <a:rPr lang="en-US" sz="1600" dirty="0">
                <a:solidFill>
                  <a:schemeClr val="tx1"/>
                </a:solidFill>
              </a:rPr>
              <a:t>raw data is incomplete, noisy and inconsistent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When: </a:t>
            </a:r>
            <a:r>
              <a:rPr lang="en-US" sz="1600" dirty="0">
                <a:solidFill>
                  <a:schemeClr val="tx1"/>
                </a:solidFill>
              </a:rPr>
              <a:t>before any model is trained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Quality: </a:t>
            </a:r>
            <a:r>
              <a:rPr lang="en-US" sz="1600" dirty="0">
                <a:solidFill>
                  <a:schemeClr val="tx1"/>
                </a:solidFill>
              </a:rPr>
              <a:t>cleaner, more accurate data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Efficiency: </a:t>
            </a:r>
            <a:r>
              <a:rPr lang="en-US" sz="1600" dirty="0">
                <a:solidFill>
                  <a:schemeClr val="tx1"/>
                </a:solidFill>
              </a:rPr>
              <a:t>faster, more stable training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Fairness: </a:t>
            </a:r>
            <a:r>
              <a:rPr lang="en-US" sz="1600" dirty="0">
                <a:solidFill>
                  <a:schemeClr val="tx1"/>
                </a:solidFill>
              </a:rPr>
              <a:t>less bias from scale and outliers</a:t>
            </a:r>
            <a:endParaRPr lang="en-US" sz="1600" dirty="0"/>
          </a:p>
        </p:txBody>
      </p:sp>
      <p:sp>
        <p:nvSpPr>
          <p:cNvPr id="5" name="Data Cleaning"/>
          <p:cNvSpPr/>
          <p:nvPr/>
        </p:nvSpPr>
        <p:spPr>
          <a:xfrm>
            <a:off x="6583680" y="169164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Data Cleaning circle"/>
          <p:cNvSpPr/>
          <p:nvPr/>
        </p:nvSpPr>
        <p:spPr>
          <a:xfrm>
            <a:off x="6693408" y="18013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Data Clea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278" y="1904238"/>
            <a:ext cx="205740" cy="2057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05472" y="18013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93408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Fix errors and inconsistent formats</a:t>
            </a:r>
            <a:endParaRPr lang="en-US" sz="1200" dirty="0"/>
          </a:p>
        </p:txBody>
      </p:sp>
      <p:sp>
        <p:nvSpPr>
          <p:cNvPr id="10" name="Missing Values"/>
          <p:cNvSpPr/>
          <p:nvPr/>
        </p:nvSpPr>
        <p:spPr>
          <a:xfrm>
            <a:off x="9171432" y="169164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Missing Values circle"/>
          <p:cNvSpPr/>
          <p:nvPr/>
        </p:nvSpPr>
        <p:spPr>
          <a:xfrm>
            <a:off x="9281160" y="18013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Missing Valu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1904238"/>
            <a:ext cx="205740" cy="2057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793224" y="18013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Missing Values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28116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Impute with mean, median or mode</a:t>
            </a:r>
            <a:endParaRPr lang="en-US" sz="1200" dirty="0"/>
          </a:p>
        </p:txBody>
      </p:sp>
      <p:sp>
        <p:nvSpPr>
          <p:cNvPr id="15" name="Noise &amp; Duplicates"/>
          <p:cNvSpPr/>
          <p:nvPr/>
        </p:nvSpPr>
        <p:spPr>
          <a:xfrm>
            <a:off x="6583680" y="2953512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Noise &amp; Duplicates circle"/>
          <p:cNvSpPr/>
          <p:nvPr/>
        </p:nvSpPr>
        <p:spPr>
          <a:xfrm>
            <a:off x="6693408" y="3063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Noise &amp; Duplicat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278" y="3166110"/>
            <a:ext cx="205740" cy="2057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05472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Noise &amp; Duplicates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693408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Remove outliers and repeated rows</a:t>
            </a:r>
            <a:endParaRPr lang="en-US" sz="1200" dirty="0"/>
          </a:p>
        </p:txBody>
      </p:sp>
      <p:sp>
        <p:nvSpPr>
          <p:cNvPr id="20" name="Normalization"/>
          <p:cNvSpPr/>
          <p:nvPr/>
        </p:nvSpPr>
        <p:spPr>
          <a:xfrm>
            <a:off x="9171432" y="2953512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Normalization circle"/>
          <p:cNvSpPr/>
          <p:nvPr/>
        </p:nvSpPr>
        <p:spPr>
          <a:xfrm>
            <a:off x="9281160" y="3063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Normaliz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4030" y="3166110"/>
            <a:ext cx="205740" cy="2057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793224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Normalization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Min–max or z-score scaling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Preprocessing workflow</a:t>
            </a:r>
            <a:endParaRPr lang="en-US" sz="1800" dirty="0"/>
          </a:p>
        </p:txBody>
      </p:sp>
      <p:sp>
        <p:nvSpPr>
          <p:cNvPr id="26" name="Workflow step"/>
          <p:cNvSpPr/>
          <p:nvPr/>
        </p:nvSpPr>
        <p:spPr>
          <a:xfrm>
            <a:off x="548640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Raw Data circle"/>
          <p:cNvSpPr/>
          <p:nvPr/>
        </p:nvSpPr>
        <p:spPr>
          <a:xfrm>
            <a:off x="1257300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mage 4" descr="Raw Dat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0170" y="5040630"/>
            <a:ext cx="205740" cy="2057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94360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Raw Data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2487168" y="53309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1" name="Workflow step"/>
          <p:cNvSpPr/>
          <p:nvPr/>
        </p:nvSpPr>
        <p:spPr>
          <a:xfrm>
            <a:off x="2862072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Cleaning circle"/>
          <p:cNvSpPr/>
          <p:nvPr/>
        </p:nvSpPr>
        <p:spPr>
          <a:xfrm>
            <a:off x="3570732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5" descr="Clea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602" y="5040630"/>
            <a:ext cx="205740" cy="2057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907792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Cleaning</a:t>
            </a:r>
            <a:endParaRPr lang="en-US" sz="1400" dirty="0"/>
          </a:p>
        </p:txBody>
      </p:sp>
      <p:sp>
        <p:nvSpPr>
          <p:cNvPr id="35" name="Arrow"/>
          <p:cNvSpPr/>
          <p:nvPr/>
        </p:nvSpPr>
        <p:spPr>
          <a:xfrm>
            <a:off x="4800600" y="53309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6" name="Workflow step"/>
          <p:cNvSpPr/>
          <p:nvPr/>
        </p:nvSpPr>
        <p:spPr>
          <a:xfrm>
            <a:off x="5175504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Missing Value Handling circle"/>
          <p:cNvSpPr/>
          <p:nvPr/>
        </p:nvSpPr>
        <p:spPr>
          <a:xfrm>
            <a:off x="5884164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6" descr="Missing Value Handl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034" y="5040630"/>
            <a:ext cx="205740" cy="2057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221224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Missing Value Handling</a:t>
            </a:r>
            <a:endParaRPr lang="en-US" sz="1400" dirty="0"/>
          </a:p>
        </p:txBody>
      </p:sp>
      <p:sp>
        <p:nvSpPr>
          <p:cNvPr id="40" name="Arrow"/>
          <p:cNvSpPr/>
          <p:nvPr/>
        </p:nvSpPr>
        <p:spPr>
          <a:xfrm>
            <a:off x="7114032" y="53309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41" name="Workflow step"/>
          <p:cNvSpPr/>
          <p:nvPr/>
        </p:nvSpPr>
        <p:spPr>
          <a:xfrm>
            <a:off x="7488936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Normalization circle"/>
          <p:cNvSpPr/>
          <p:nvPr/>
        </p:nvSpPr>
        <p:spPr>
          <a:xfrm>
            <a:off x="8197596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3" name="Image 7" descr="Normaliz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0466" y="5040630"/>
            <a:ext cx="205740" cy="20574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534656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Normalization</a:t>
            </a:r>
            <a:endParaRPr lang="en-US" sz="1400" dirty="0"/>
          </a:p>
        </p:txBody>
      </p:sp>
      <p:sp>
        <p:nvSpPr>
          <p:cNvPr id="45" name="Arrow"/>
          <p:cNvSpPr/>
          <p:nvPr/>
        </p:nvSpPr>
        <p:spPr>
          <a:xfrm>
            <a:off x="9427464" y="53309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46" name="Workflow step"/>
          <p:cNvSpPr/>
          <p:nvPr/>
        </p:nvSpPr>
        <p:spPr>
          <a:xfrm>
            <a:off x="9802368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Clean Dataset circle"/>
          <p:cNvSpPr/>
          <p:nvPr/>
        </p:nvSpPr>
        <p:spPr>
          <a:xfrm>
            <a:off x="10511028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8" name="Image 8" descr="Clean Datase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3898" y="5040630"/>
            <a:ext cx="205740" cy="20574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848088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Clean Dataset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Feature Selection and Data Preparation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Keep what is relevant, then prepare the data for learning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Feature selection: </a:t>
            </a:r>
            <a:r>
              <a:rPr lang="en-US" sz="1700" dirty="0">
                <a:solidFill>
                  <a:schemeClr val="tx1"/>
                </a:solidFill>
              </a:rPr>
              <a:t>keep the most relevant features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Remove: </a:t>
            </a:r>
            <a:r>
              <a:rPr lang="en-US" sz="1700" dirty="0">
                <a:solidFill>
                  <a:schemeClr val="tx1"/>
                </a:solidFill>
              </a:rPr>
              <a:t>irrelevant and redundant features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Transformation: </a:t>
            </a:r>
            <a:r>
              <a:rPr lang="en-US" sz="1700" dirty="0">
                <a:solidFill>
                  <a:schemeClr val="tx1"/>
                </a:solidFill>
              </a:rPr>
              <a:t>encoding and scaling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Dataset splitting: </a:t>
            </a:r>
            <a:r>
              <a:rPr lang="en-US" sz="1700" dirty="0">
                <a:solidFill>
                  <a:schemeClr val="tx1"/>
                </a:solidFill>
              </a:rPr>
              <a:t>e.g. 80% train, 20% test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Lower complexity: </a:t>
            </a:r>
            <a:r>
              <a:rPr lang="en-US" sz="1700" dirty="0">
                <a:solidFill>
                  <a:schemeClr val="tx1"/>
                </a:solidFill>
              </a:rPr>
              <a:t>faster training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Better performance: </a:t>
            </a:r>
            <a:r>
              <a:rPr lang="en-US" sz="1700" dirty="0">
                <a:solidFill>
                  <a:schemeClr val="tx1"/>
                </a:solidFill>
              </a:rPr>
              <a:t>less overfitting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preparation flow</a:t>
            </a:r>
            <a:endParaRPr lang="en-US" sz="1800" dirty="0"/>
          </a:p>
        </p:txBody>
      </p:sp>
      <p:sp>
        <p:nvSpPr>
          <p:cNvPr id="6" name="Dataset"/>
          <p:cNvSpPr/>
          <p:nvPr/>
        </p:nvSpPr>
        <p:spPr>
          <a:xfrm>
            <a:off x="6309360" y="2286000"/>
            <a:ext cx="1280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Dataset circle"/>
          <p:cNvSpPr/>
          <p:nvPr/>
        </p:nvSpPr>
        <p:spPr>
          <a:xfrm>
            <a:off x="6720840" y="2395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Dataset</a:t>
            </a:r>
            <a:endParaRPr lang="en-US" sz="1400" dirty="0"/>
          </a:p>
        </p:txBody>
      </p:sp>
      <p:pic>
        <p:nvPicPr>
          <p:cNvPr id="9" name="Image 0" descr="Datas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510028"/>
            <a:ext cx="228600" cy="228600"/>
          </a:xfrm>
          <a:prstGeom prst="rect">
            <a:avLst/>
          </a:prstGeom>
        </p:spPr>
      </p:pic>
      <p:sp>
        <p:nvSpPr>
          <p:cNvPr id="10" name="Feature Selection"/>
          <p:cNvSpPr/>
          <p:nvPr/>
        </p:nvSpPr>
        <p:spPr>
          <a:xfrm>
            <a:off x="7909560" y="228600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Feature Selection circle"/>
          <p:cNvSpPr/>
          <p:nvPr/>
        </p:nvSpPr>
        <p:spPr>
          <a:xfrm>
            <a:off x="8412480" y="2395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Feature Selection</a:t>
            </a:r>
            <a:endParaRPr lang="en-US" sz="1400" dirty="0"/>
          </a:p>
        </p:txBody>
      </p:sp>
      <p:pic>
        <p:nvPicPr>
          <p:cNvPr id="13" name="Image 1" descr="Feature Sele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0" y="2510028"/>
            <a:ext cx="228600" cy="228600"/>
          </a:xfrm>
          <a:prstGeom prst="rect">
            <a:avLst/>
          </a:prstGeom>
        </p:spPr>
      </p:pic>
      <p:sp>
        <p:nvSpPr>
          <p:cNvPr id="14" name="Training Data (80%)"/>
          <p:cNvSpPr/>
          <p:nvPr/>
        </p:nvSpPr>
        <p:spPr>
          <a:xfrm>
            <a:off x="9692640" y="1965960"/>
            <a:ext cx="1947672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raining Data (80%) circle"/>
          <p:cNvSpPr/>
          <p:nvPr/>
        </p:nvSpPr>
        <p:spPr>
          <a:xfrm>
            <a:off x="10437876" y="20756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738360" y="26060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Training Data (80%)</a:t>
            </a:r>
            <a:endParaRPr lang="en-US" sz="1400" dirty="0"/>
          </a:p>
        </p:txBody>
      </p:sp>
      <p:pic>
        <p:nvPicPr>
          <p:cNvPr id="17" name="Image 2" descr="Training Data (80%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76" y="2189988"/>
            <a:ext cx="228600" cy="228600"/>
          </a:xfrm>
          <a:prstGeom prst="rect">
            <a:avLst/>
          </a:prstGeom>
        </p:spPr>
      </p:pic>
      <p:sp>
        <p:nvSpPr>
          <p:cNvPr id="18" name="Testing Data (20%)"/>
          <p:cNvSpPr/>
          <p:nvPr/>
        </p:nvSpPr>
        <p:spPr>
          <a:xfrm>
            <a:off x="9692640" y="3108960"/>
            <a:ext cx="1947672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sting Data (20%) circle"/>
          <p:cNvSpPr/>
          <p:nvPr/>
        </p:nvSpPr>
        <p:spPr>
          <a:xfrm>
            <a:off x="10437876" y="32186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738360" y="37490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Testing Data (20%)</a:t>
            </a:r>
            <a:endParaRPr lang="en-US" sz="1400" dirty="0"/>
          </a:p>
        </p:txBody>
      </p:sp>
      <p:pic>
        <p:nvPicPr>
          <p:cNvPr id="21" name="Image 3" descr="Testing Data (20%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332988"/>
            <a:ext cx="228600" cy="228600"/>
          </a:xfrm>
          <a:prstGeom prst="rect">
            <a:avLst/>
          </a:prstGeom>
        </p:spPr>
      </p:pic>
      <p:sp>
        <p:nvSpPr>
          <p:cNvPr id="22" name="Arrow"/>
          <p:cNvSpPr/>
          <p:nvPr/>
        </p:nvSpPr>
        <p:spPr>
          <a:xfrm>
            <a:off x="7635240" y="2834640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3" name="Arrow"/>
          <p:cNvSpPr/>
          <p:nvPr/>
        </p:nvSpPr>
        <p:spPr>
          <a:xfrm>
            <a:off x="9418320" y="2331720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4" name="Arrow"/>
          <p:cNvSpPr/>
          <p:nvPr/>
        </p:nvSpPr>
        <p:spPr>
          <a:xfrm>
            <a:off x="9418320" y="3474720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309360" y="4343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Feature selection methods</a:t>
            </a:r>
            <a:endParaRPr lang="en-US" sz="1800" dirty="0"/>
          </a:p>
        </p:txBody>
      </p:sp>
      <p:sp>
        <p:nvSpPr>
          <p:cNvPr id="26" name="Filter"/>
          <p:cNvSpPr/>
          <p:nvPr/>
        </p:nvSpPr>
        <p:spPr>
          <a:xfrm>
            <a:off x="6309360" y="480060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6400800" y="4873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Filter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400800" y="5212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Rank by statistics</a:t>
            </a:r>
            <a:endParaRPr lang="en-US" sz="1200" dirty="0"/>
          </a:p>
        </p:txBody>
      </p:sp>
      <p:sp>
        <p:nvSpPr>
          <p:cNvPr id="29" name="Wrapper"/>
          <p:cNvSpPr/>
          <p:nvPr/>
        </p:nvSpPr>
        <p:spPr>
          <a:xfrm>
            <a:off x="8119872" y="480060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8211312" y="4873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Wrapper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8211312" y="5212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Test subsets with a model</a:t>
            </a:r>
            <a:endParaRPr lang="en-US" sz="1200" dirty="0"/>
          </a:p>
        </p:txBody>
      </p:sp>
      <p:sp>
        <p:nvSpPr>
          <p:cNvPr id="32" name="Embedded"/>
          <p:cNvSpPr/>
          <p:nvPr/>
        </p:nvSpPr>
        <p:spPr>
          <a:xfrm>
            <a:off x="9930384" y="480060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10021824" y="4873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Embedded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0021824" y="5212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Built into training (e.g. Lasso)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Post-Processing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Turning raw model output into clear, useful results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Purpose: </a:t>
            </a:r>
            <a:r>
              <a:rPr lang="en-US" sz="1600" dirty="0">
                <a:solidFill>
                  <a:schemeClr val="tx1"/>
                </a:solidFill>
              </a:rPr>
              <a:t>make predictions usable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Refinement: </a:t>
            </a:r>
            <a:r>
              <a:rPr lang="en-US" sz="1600" dirty="0">
                <a:solidFill>
                  <a:schemeClr val="tx1"/>
                </a:solidFill>
              </a:rPr>
              <a:t>clean up and consolidate outputs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Threshold tuning: </a:t>
            </a:r>
            <a:r>
              <a:rPr lang="en-US" sz="1600" dirty="0">
                <a:solidFill>
                  <a:schemeClr val="tx1"/>
                </a:solidFill>
              </a:rPr>
              <a:t>choose the decision cut-off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Output filtering: </a:t>
            </a:r>
            <a:r>
              <a:rPr lang="en-US" sz="1600" dirty="0">
                <a:solidFill>
                  <a:schemeClr val="tx1"/>
                </a:solidFill>
              </a:rPr>
              <a:t>drop low-confidence results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Visualization: </a:t>
            </a:r>
            <a:r>
              <a:rPr lang="en-US" sz="1600" dirty="0">
                <a:solidFill>
                  <a:schemeClr val="tx1"/>
                </a:solidFill>
              </a:rPr>
              <a:t>confusion matrix, ROC curve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Benefit: </a:t>
            </a:r>
            <a:r>
              <a:rPr lang="en-US" sz="1600" dirty="0">
                <a:solidFill>
                  <a:schemeClr val="tx1"/>
                </a:solidFill>
              </a:rPr>
              <a:t>easier to interpret and act on</a:t>
            </a:r>
            <a:endParaRPr lang="en-US" sz="1600" dirty="0"/>
          </a:p>
        </p:txBody>
      </p:sp>
      <p:sp>
        <p:nvSpPr>
          <p:cNvPr id="5" name="Lower threshold"/>
          <p:cNvSpPr/>
          <p:nvPr/>
        </p:nvSpPr>
        <p:spPr>
          <a:xfrm>
            <a:off x="6583680" y="1691640"/>
            <a:ext cx="505663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Lower threshold circle"/>
          <p:cNvSpPr/>
          <p:nvPr/>
        </p:nvSpPr>
        <p:spPr>
          <a:xfrm>
            <a:off x="6766560" y="19659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Lower thresho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21145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1892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Lower threshold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Higher recall, lower precision</a:t>
            </a:r>
            <a:endParaRPr lang="en-US" sz="1500" dirty="0"/>
          </a:p>
        </p:txBody>
      </p:sp>
      <p:sp>
        <p:nvSpPr>
          <p:cNvPr id="10" name="Higher threshold"/>
          <p:cNvSpPr/>
          <p:nvPr/>
        </p:nvSpPr>
        <p:spPr>
          <a:xfrm>
            <a:off x="6583680" y="2971800"/>
            <a:ext cx="505663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Higher threshold circle"/>
          <p:cNvSpPr/>
          <p:nvPr/>
        </p:nvSpPr>
        <p:spPr>
          <a:xfrm>
            <a:off x="6766560" y="32461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Higher threshol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150" y="33947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89520" y="3172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Higher threshold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58952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Higher precision, lower recall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Post-processing workflow</a:t>
            </a:r>
            <a:endParaRPr lang="en-US" sz="1800" dirty="0"/>
          </a:p>
        </p:txBody>
      </p:sp>
      <p:sp>
        <p:nvSpPr>
          <p:cNvPr id="16" name="Workflow step"/>
          <p:cNvSpPr/>
          <p:nvPr/>
        </p:nvSpPr>
        <p:spPr>
          <a:xfrm>
            <a:off x="548640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Model Output circle"/>
          <p:cNvSpPr/>
          <p:nvPr/>
        </p:nvSpPr>
        <p:spPr>
          <a:xfrm>
            <a:off x="1257300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Model Outp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170" y="5040630"/>
            <a:ext cx="205740" cy="2057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94360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 Output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2487168" y="53309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Workflow step"/>
          <p:cNvSpPr/>
          <p:nvPr/>
        </p:nvSpPr>
        <p:spPr>
          <a:xfrm>
            <a:off x="2862072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Refinement circle"/>
          <p:cNvSpPr/>
          <p:nvPr/>
        </p:nvSpPr>
        <p:spPr>
          <a:xfrm>
            <a:off x="3570732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Refinem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3602" y="5040630"/>
            <a:ext cx="205740" cy="2057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907792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Refinement</a:t>
            </a:r>
            <a:endParaRPr lang="en-US" sz="1400" dirty="0"/>
          </a:p>
        </p:txBody>
      </p:sp>
      <p:sp>
        <p:nvSpPr>
          <p:cNvPr id="25" name="Arrow"/>
          <p:cNvSpPr/>
          <p:nvPr/>
        </p:nvSpPr>
        <p:spPr>
          <a:xfrm>
            <a:off x="4800600" y="53309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6" name="Workflow step"/>
          <p:cNvSpPr/>
          <p:nvPr/>
        </p:nvSpPr>
        <p:spPr>
          <a:xfrm>
            <a:off x="5175504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hreshold Tuning circle"/>
          <p:cNvSpPr/>
          <p:nvPr/>
        </p:nvSpPr>
        <p:spPr>
          <a:xfrm>
            <a:off x="5884164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mage 4" descr="Threshold Tun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7034" y="5040630"/>
            <a:ext cx="205740" cy="2057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21224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Threshold Tuning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7114032" y="53309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1" name="Workflow step"/>
          <p:cNvSpPr/>
          <p:nvPr/>
        </p:nvSpPr>
        <p:spPr>
          <a:xfrm>
            <a:off x="7488936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Visualization circle"/>
          <p:cNvSpPr/>
          <p:nvPr/>
        </p:nvSpPr>
        <p:spPr>
          <a:xfrm>
            <a:off x="8197596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5" descr="Visualiza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0466" y="5040630"/>
            <a:ext cx="205740" cy="2057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534656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35" name="Arrow"/>
          <p:cNvSpPr/>
          <p:nvPr/>
        </p:nvSpPr>
        <p:spPr>
          <a:xfrm>
            <a:off x="9427464" y="53309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6" name="Workflow step"/>
          <p:cNvSpPr/>
          <p:nvPr/>
        </p:nvSpPr>
        <p:spPr>
          <a:xfrm>
            <a:off x="9802368" y="484632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Final Result circle"/>
          <p:cNvSpPr/>
          <p:nvPr/>
        </p:nvSpPr>
        <p:spPr>
          <a:xfrm>
            <a:off x="10511028" y="4937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6" descr="Final Resul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13898" y="5040630"/>
            <a:ext cx="205740" cy="2057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848088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Final Result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 Evaluation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Why evaluate? To measure quality, compare models and find weaknesses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040880" cy="35204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Formula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it measures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(TP + TN) / (TP + TN + FP + FN)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Share of all predictions that are correct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83.3%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TP / (TP + FP)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Of predicted positives, how many are truly positive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80.0%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TP / (TP + FN)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Of actual positives, how many are found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72.7%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× P × R / (P + R)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Balance of precision and recall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76.2%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48640" y="53949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Example (illustrative): TP = 40, FP = 10, FN = 15, TN = 85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15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TP/TN = correct positive/negative predictions; FP/FN = wrong ones.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863840" y="1691640"/>
          <a:ext cx="377647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863840" y="539496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Values computed from the example counts.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Validation, Robustness &amp;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Cross-validation tests the model on every part of the data</a:t>
            </a:r>
            <a:endParaRPr lang="en-US" sz="1600" dirty="0"/>
          </a:p>
        </p:txBody>
      </p:sp>
      <p:sp>
        <p:nvSpPr>
          <p:cNvPr id="4" name="Cross-validation diagram"/>
          <p:cNvSpPr/>
          <p:nvPr/>
        </p:nvSpPr>
        <p:spPr>
          <a:xfrm>
            <a:off x="548640" y="169164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5-fold cross-validation: each fold is the test set once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Fold 1</a:t>
            </a:r>
            <a:endParaRPr lang="en-US" sz="1200" dirty="0"/>
          </a:p>
        </p:txBody>
      </p:sp>
      <p:sp>
        <p:nvSpPr>
          <p:cNvPr id="7" name="Fold block"/>
          <p:cNvSpPr/>
          <p:nvPr/>
        </p:nvSpPr>
        <p:spPr>
          <a:xfrm>
            <a:off x="1554480" y="2194560"/>
            <a:ext cx="786384" cy="2926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Fold block"/>
          <p:cNvSpPr/>
          <p:nvPr/>
        </p:nvSpPr>
        <p:spPr>
          <a:xfrm>
            <a:off x="2395728" y="2194560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Fold block"/>
          <p:cNvSpPr/>
          <p:nvPr/>
        </p:nvSpPr>
        <p:spPr>
          <a:xfrm>
            <a:off x="3236976" y="2194560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Fold block"/>
          <p:cNvSpPr/>
          <p:nvPr/>
        </p:nvSpPr>
        <p:spPr>
          <a:xfrm>
            <a:off x="4078224" y="2194560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Fold block"/>
          <p:cNvSpPr/>
          <p:nvPr/>
        </p:nvSpPr>
        <p:spPr>
          <a:xfrm>
            <a:off x="4919472" y="2194560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42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Fold 2</a:t>
            </a:r>
            <a:endParaRPr lang="en-US" sz="1200" dirty="0"/>
          </a:p>
        </p:txBody>
      </p:sp>
      <p:sp>
        <p:nvSpPr>
          <p:cNvPr id="13" name="Fold block"/>
          <p:cNvSpPr/>
          <p:nvPr/>
        </p:nvSpPr>
        <p:spPr>
          <a:xfrm>
            <a:off x="1554480" y="2542032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Fold block"/>
          <p:cNvSpPr/>
          <p:nvPr/>
        </p:nvSpPr>
        <p:spPr>
          <a:xfrm>
            <a:off x="2395728" y="2542032"/>
            <a:ext cx="786384" cy="2926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Fold block"/>
          <p:cNvSpPr/>
          <p:nvPr/>
        </p:nvSpPr>
        <p:spPr>
          <a:xfrm>
            <a:off x="3236976" y="2542032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Fold block"/>
          <p:cNvSpPr/>
          <p:nvPr/>
        </p:nvSpPr>
        <p:spPr>
          <a:xfrm>
            <a:off x="4078224" y="2542032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Fold block"/>
          <p:cNvSpPr/>
          <p:nvPr/>
        </p:nvSpPr>
        <p:spPr>
          <a:xfrm>
            <a:off x="4919472" y="2542032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28895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Fold 3</a:t>
            </a:r>
            <a:endParaRPr lang="en-US" sz="1200" dirty="0"/>
          </a:p>
        </p:txBody>
      </p:sp>
      <p:sp>
        <p:nvSpPr>
          <p:cNvPr id="19" name="Fold block"/>
          <p:cNvSpPr/>
          <p:nvPr/>
        </p:nvSpPr>
        <p:spPr>
          <a:xfrm>
            <a:off x="1554480" y="2889504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Fold block"/>
          <p:cNvSpPr/>
          <p:nvPr/>
        </p:nvSpPr>
        <p:spPr>
          <a:xfrm>
            <a:off x="2395728" y="2889504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Fold block"/>
          <p:cNvSpPr/>
          <p:nvPr/>
        </p:nvSpPr>
        <p:spPr>
          <a:xfrm>
            <a:off x="3236976" y="2889504"/>
            <a:ext cx="786384" cy="2926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Fold block"/>
          <p:cNvSpPr/>
          <p:nvPr/>
        </p:nvSpPr>
        <p:spPr>
          <a:xfrm>
            <a:off x="4078224" y="2889504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Fold block"/>
          <p:cNvSpPr/>
          <p:nvPr/>
        </p:nvSpPr>
        <p:spPr>
          <a:xfrm>
            <a:off x="4919472" y="2889504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32369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Fold 4</a:t>
            </a:r>
            <a:endParaRPr lang="en-US" sz="1200" dirty="0"/>
          </a:p>
        </p:txBody>
      </p:sp>
      <p:sp>
        <p:nvSpPr>
          <p:cNvPr id="25" name="Fold block"/>
          <p:cNvSpPr/>
          <p:nvPr/>
        </p:nvSpPr>
        <p:spPr>
          <a:xfrm>
            <a:off x="1554480" y="3236976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Fold block"/>
          <p:cNvSpPr/>
          <p:nvPr/>
        </p:nvSpPr>
        <p:spPr>
          <a:xfrm>
            <a:off x="2395728" y="3236976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Fold block"/>
          <p:cNvSpPr/>
          <p:nvPr/>
        </p:nvSpPr>
        <p:spPr>
          <a:xfrm>
            <a:off x="3236976" y="3236976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Fold block"/>
          <p:cNvSpPr/>
          <p:nvPr/>
        </p:nvSpPr>
        <p:spPr>
          <a:xfrm>
            <a:off x="4078224" y="3236976"/>
            <a:ext cx="786384" cy="2926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Fold block"/>
          <p:cNvSpPr/>
          <p:nvPr/>
        </p:nvSpPr>
        <p:spPr>
          <a:xfrm>
            <a:off x="4919472" y="3236976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35844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Fold 5</a:t>
            </a:r>
            <a:endParaRPr lang="en-US" sz="1200" dirty="0"/>
          </a:p>
        </p:txBody>
      </p:sp>
      <p:sp>
        <p:nvSpPr>
          <p:cNvPr id="31" name="Fold block"/>
          <p:cNvSpPr/>
          <p:nvPr/>
        </p:nvSpPr>
        <p:spPr>
          <a:xfrm>
            <a:off x="1554480" y="3584448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Fold block"/>
          <p:cNvSpPr/>
          <p:nvPr/>
        </p:nvSpPr>
        <p:spPr>
          <a:xfrm>
            <a:off x="2395728" y="3584448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Fold block"/>
          <p:cNvSpPr/>
          <p:nvPr/>
        </p:nvSpPr>
        <p:spPr>
          <a:xfrm>
            <a:off x="3236976" y="3584448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Fold block"/>
          <p:cNvSpPr/>
          <p:nvPr/>
        </p:nvSpPr>
        <p:spPr>
          <a:xfrm>
            <a:off x="4078224" y="3584448"/>
            <a:ext cx="78638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Fold block"/>
          <p:cNvSpPr/>
          <p:nvPr/>
        </p:nvSpPr>
        <p:spPr>
          <a:xfrm>
            <a:off x="4919472" y="3584448"/>
            <a:ext cx="786384" cy="2926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6" name="Robustness"/>
          <p:cNvSpPr/>
          <p:nvPr/>
        </p:nvSpPr>
        <p:spPr>
          <a:xfrm>
            <a:off x="6309360" y="1691640"/>
            <a:ext cx="5330952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Robustness circle"/>
          <p:cNvSpPr/>
          <p:nvPr/>
        </p:nvSpPr>
        <p:spPr>
          <a:xfrm>
            <a:off x="6446520" y="178308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0" descr="Robustn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1915668"/>
            <a:ext cx="265176" cy="265176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7132320" y="17647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Robustness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7132320" y="2075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Stable across different data splits</a:t>
            </a:r>
            <a:endParaRPr lang="en-US" sz="1400" dirty="0"/>
          </a:p>
        </p:txBody>
      </p:sp>
      <p:sp>
        <p:nvSpPr>
          <p:cNvPr id="41" name="Generalizability"/>
          <p:cNvSpPr/>
          <p:nvPr/>
        </p:nvSpPr>
        <p:spPr>
          <a:xfrm>
            <a:off x="6309360" y="2496312"/>
            <a:ext cx="5330952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Generalizability circle"/>
          <p:cNvSpPr/>
          <p:nvPr/>
        </p:nvSpPr>
        <p:spPr>
          <a:xfrm>
            <a:off x="6446520" y="2587752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3" name="Image 1" descr="Generalizabil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2720340"/>
            <a:ext cx="265176" cy="265176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7132320" y="25694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Generalizability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713232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Performs well on unseen data</a:t>
            </a:r>
            <a:endParaRPr lang="en-US" sz="1400" dirty="0"/>
          </a:p>
        </p:txBody>
      </p:sp>
      <p:sp>
        <p:nvSpPr>
          <p:cNvPr id="46" name="Reliable performance"/>
          <p:cNvSpPr/>
          <p:nvPr/>
        </p:nvSpPr>
        <p:spPr>
          <a:xfrm>
            <a:off x="6309360" y="3300984"/>
            <a:ext cx="5330952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Reliable performance circle"/>
          <p:cNvSpPr/>
          <p:nvPr/>
        </p:nvSpPr>
        <p:spPr>
          <a:xfrm>
            <a:off x="6446520" y="3392424"/>
            <a:ext cx="530352" cy="53035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8" name="Image 2" descr="Reliable performan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3525012"/>
            <a:ext cx="265176" cy="265176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7132320" y="33741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Reliable performance</a:t>
            </a:r>
            <a:endParaRPr lang="en-US" sz="1600" dirty="0"/>
          </a:p>
        </p:txBody>
      </p:sp>
      <p:sp>
        <p:nvSpPr>
          <p:cNvPr id="50" name="Text 45"/>
          <p:cNvSpPr txBox="1"/>
          <p:nvPr/>
        </p:nvSpPr>
        <p:spPr>
          <a:xfrm>
            <a:off x="7132320" y="36850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score over all folds</a:t>
            </a:r>
            <a:endParaRPr lang="en-US" sz="1400" dirty="0"/>
          </a:p>
        </p:txBody>
      </p:sp>
      <p:sp>
        <p:nvSpPr>
          <p:cNvPr id="51" name="Workflow step"/>
          <p:cNvSpPr/>
          <p:nvPr/>
        </p:nvSpPr>
        <p:spPr>
          <a:xfrm>
            <a:off x="548640" y="425196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Preprocessing circle"/>
          <p:cNvSpPr/>
          <p:nvPr/>
        </p:nvSpPr>
        <p:spPr>
          <a:xfrm>
            <a:off x="1257300" y="4343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3" name="Image 3" descr="Preprocess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170" y="4446270"/>
            <a:ext cx="205740" cy="205740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59436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55" name="Arrow"/>
          <p:cNvSpPr/>
          <p:nvPr/>
        </p:nvSpPr>
        <p:spPr>
          <a:xfrm>
            <a:off x="2487168" y="46451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56" name="Workflow step"/>
          <p:cNvSpPr/>
          <p:nvPr/>
        </p:nvSpPr>
        <p:spPr>
          <a:xfrm>
            <a:off x="2862072" y="425196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Model Development circle"/>
          <p:cNvSpPr/>
          <p:nvPr/>
        </p:nvSpPr>
        <p:spPr>
          <a:xfrm>
            <a:off x="3570732" y="4343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8" name="Image 4" descr="Model Developme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3602" y="4446270"/>
            <a:ext cx="205740" cy="205740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2907792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 Development</a:t>
            </a:r>
            <a:endParaRPr lang="en-US" sz="1400" dirty="0"/>
          </a:p>
        </p:txBody>
      </p:sp>
      <p:sp>
        <p:nvSpPr>
          <p:cNvPr id="60" name="Arrow"/>
          <p:cNvSpPr/>
          <p:nvPr/>
        </p:nvSpPr>
        <p:spPr>
          <a:xfrm>
            <a:off x="4800600" y="46451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1" name="Workflow step"/>
          <p:cNvSpPr/>
          <p:nvPr/>
        </p:nvSpPr>
        <p:spPr>
          <a:xfrm>
            <a:off x="5175504" y="425196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Post-Processing circle"/>
          <p:cNvSpPr/>
          <p:nvPr/>
        </p:nvSpPr>
        <p:spPr>
          <a:xfrm>
            <a:off x="5884164" y="4343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3" name="Image 5" descr="Post-Process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7034" y="4446270"/>
            <a:ext cx="205740" cy="205740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5221224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Post-Processing</a:t>
            </a:r>
            <a:endParaRPr lang="en-US" sz="1400" dirty="0"/>
          </a:p>
        </p:txBody>
      </p:sp>
      <p:sp>
        <p:nvSpPr>
          <p:cNvPr id="65" name="Arrow"/>
          <p:cNvSpPr/>
          <p:nvPr/>
        </p:nvSpPr>
        <p:spPr>
          <a:xfrm>
            <a:off x="7114032" y="46451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6" name="Workflow step"/>
          <p:cNvSpPr/>
          <p:nvPr/>
        </p:nvSpPr>
        <p:spPr>
          <a:xfrm>
            <a:off x="7488936" y="425196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Evaluation circle"/>
          <p:cNvSpPr/>
          <p:nvPr/>
        </p:nvSpPr>
        <p:spPr>
          <a:xfrm>
            <a:off x="8197596" y="4343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8" name="Image 6" descr="Evaluati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0466" y="4446270"/>
            <a:ext cx="205740" cy="205740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7534656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70" name="Arrow"/>
          <p:cNvSpPr/>
          <p:nvPr/>
        </p:nvSpPr>
        <p:spPr>
          <a:xfrm>
            <a:off x="9427464" y="4645152"/>
            <a:ext cx="256032" cy="219456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71" name="Workflow step"/>
          <p:cNvSpPr/>
          <p:nvPr/>
        </p:nvSpPr>
        <p:spPr>
          <a:xfrm>
            <a:off x="9802368" y="425196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Validation circle"/>
          <p:cNvSpPr/>
          <p:nvPr/>
        </p:nvSpPr>
        <p:spPr>
          <a:xfrm>
            <a:off x="10511028" y="4343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3" name="Image 7" descr="Valid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3898" y="4446270"/>
            <a:ext cx="205740" cy="205740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9848088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75" name="Conclusion banner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76" name="Text 66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Conclusion: </a:t>
            </a:r>
            <a:r>
              <a:rPr lang="en-US" sz="1700" dirty="0">
                <a:solidFill>
                  <a:schemeClr val="tx1"/>
                </a:solidFill>
              </a:rPr>
              <a:t>proper preprocessing, post-processing and evaluation are essential for a reliable and effective model.</a:t>
            </a:r>
            <a:endParaRPr lang="en-US" sz="1700" dirty="0"/>
          </a:p>
        </p:txBody>
      </p:sp>
      <p:sp>
        <p:nvSpPr>
          <p:cNvPr id="7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Teal">
  <a:themeElements>
    <a:clrScheme name="Academic Teal">
      <a:dk1>
        <a:srgbClr val="1B2A41"/>
      </a:dk1>
      <a:lt1>
        <a:srgbClr val="FFFFFF"/>
      </a:lt1>
      <a:dk2>
        <a:srgbClr val="0B3C5D"/>
      </a:dk2>
      <a:lt2>
        <a:srgbClr val="EEF3F7"/>
      </a:lt2>
      <a:accent1>
        <a:srgbClr val="0B6E8A"/>
      </a:accent1>
      <a:accent2>
        <a:srgbClr val="F2A33A"/>
      </a:accent2>
      <a:accent3>
        <a:srgbClr val="2E9E83"/>
      </a:accent3>
      <a:accent4>
        <a:srgbClr val="D1495B"/>
      </a:accent4>
      <a:accent5>
        <a:srgbClr val="5B6C8F"/>
      </a:accent5>
      <a:accent6>
        <a:srgbClr val="BFD7E6"/>
      </a:accent6>
      <a:hlink>
        <a:srgbClr val="0B6E8A"/>
      </a:hlink>
      <a:folHlink>
        <a:srgbClr val="5B6C8F"/>
      </a:folHlink>
    </a:clrScheme>
    <a:fontScheme name="Academi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633</Words>
  <Application>Microsoft Office PowerPoint</Application>
  <PresentationFormat>Widescreen</PresentationFormat>
  <Paragraphs>126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Academic Teal</vt:lpstr>
      <vt:lpstr>Implementation of Preprocessing, Post-Processing, and Evaluation</vt:lpstr>
      <vt:lpstr>Data Preprocessing</vt:lpstr>
      <vt:lpstr>Feature Selection and Data Preparation</vt:lpstr>
      <vt:lpstr>Post-Processing</vt:lpstr>
      <vt:lpstr>Model Evaluation</vt:lpstr>
      <vt:lpstr>Validation, Robustness &amp; 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of Preprocessing, Post-Processing, and Evaluation</dc:title>
  <dc:subject>PptxGenJS Presentation</dc:subject>
  <dc:creator>PptxGenJS</dc:creator>
  <cp:lastModifiedBy>manedipranay.529@outlook.com</cp:lastModifiedBy>
  <cp:revision>3</cp:revision>
  <dcterms:created xsi:type="dcterms:W3CDTF">2026-10-08T17:19:18Z</dcterms:created>
  <dcterms:modified xsi:type="dcterms:W3CDTF">2026-10-09T06:32:21Z</dcterms:modified>
</cp:coreProperties>
</file>